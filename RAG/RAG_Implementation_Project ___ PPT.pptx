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W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langchain.com/oss/python/langchain/retrieval" TargetMode="External"/><Relationship Id="rId2" Type="http://schemas.openxmlformats.org/officeDocument/2006/relationships/hyperlink" Target="https://docs.langchain.com/oss/python/integrations/embeddings/nvidia_ai_endpoints" TargetMode="External"/><Relationship Id="rId3" Type="http://schemas.openxmlformats.org/officeDocument/2006/relationships/hyperlink" Target="https://docs.pinecone.io/guides/indexes/create-an-index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-502920"/>
            <a:ext cx="3657600" cy="3657600"/>
          </a:xfrm>
          <a:prstGeom prst="ellipse">
            <a:avLst/>
          </a:prstGeom>
          <a:solidFill>
            <a:srgbClr val="7833FE"/>
          </a:solidFill>
          <a:ln w="12700">
            <a:solidFill>
              <a:srgbClr val="7833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91472" y="4334256"/>
            <a:ext cx="2743200" cy="2743200"/>
          </a:xfrm>
          <a:prstGeom prst="ellipse">
            <a:avLst/>
          </a:prstGeom>
          <a:solidFill>
            <a:srgbClr val="7833FE"/>
          </a:solidFill>
          <a:ln w="12700">
            <a:solidFill>
              <a:srgbClr val="7833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84124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spc="180" kern="0" dirty="0">
                <a:solidFill>
                  <a:srgbClr val="CF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O N S O L E F L A R E   •   A G E N T I C   A I   C O U R S E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621792" y="1572768"/>
            <a:ext cx="6217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Implementation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Project Setup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21792" y="30632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+ LangChain + Pinecone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3675888"/>
            <a:ext cx="1508760" cy="384048"/>
          </a:xfrm>
          <a:prstGeom prst="roundRect">
            <a:avLst>
              <a:gd name="adj" fmla="val 42857"/>
            </a:avLst>
          </a:prstGeom>
          <a:solidFill>
            <a:srgbClr val="7833FE"/>
          </a:solidFill>
          <a:ln w="12700">
            <a:solidFill>
              <a:srgbClr val="7833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36850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Loaders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67712" y="3675888"/>
            <a:ext cx="1298448" cy="384048"/>
          </a:xfrm>
          <a:prstGeom prst="roundRect">
            <a:avLst>
              <a:gd name="adj" fmla="val 42857"/>
            </a:avLst>
          </a:prstGeom>
          <a:solidFill>
            <a:srgbClr val="7833FE"/>
          </a:solidFill>
          <a:ln w="12700">
            <a:solidFill>
              <a:srgbClr val="7833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67712" y="368503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12464" y="3675888"/>
            <a:ext cx="1426464" cy="384048"/>
          </a:xfrm>
          <a:prstGeom prst="roundRect">
            <a:avLst>
              <a:gd name="adj" fmla="val 42857"/>
            </a:avLst>
          </a:prstGeom>
          <a:solidFill>
            <a:srgbClr val="7833FE"/>
          </a:solidFill>
          <a:ln w="12700">
            <a:solidFill>
              <a:srgbClr val="7833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2464" y="368503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285232" y="3675888"/>
            <a:ext cx="1325880" cy="384048"/>
          </a:xfrm>
          <a:prstGeom prst="roundRect">
            <a:avLst>
              <a:gd name="adj" fmla="val 42857"/>
            </a:avLst>
          </a:prstGeom>
          <a:solidFill>
            <a:srgbClr val="7833FE"/>
          </a:solidFill>
          <a:ln w="12700">
            <a:solidFill>
              <a:srgbClr val="7833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85232" y="368503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" y="4645152"/>
            <a:ext cx="36576" cy="932688"/>
          </a:xfrm>
          <a:prstGeom prst="rect">
            <a:avLst/>
          </a:prstGeom>
          <a:solidFill>
            <a:srgbClr val="34E5B0"/>
          </a:solidFill>
          <a:ln w="12700">
            <a:solidFill>
              <a:srgbClr val="34E5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882896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move from RAG theory to a real implementation foundation — and make the project ready for document ingestion.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457200" y="64373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C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ConsoleFlare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109960" y="6428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9C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A1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Long Document Is Not Yet RAG-Ready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12471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LLM can answer from external knowledge, that knowledge must be standardized and made searchable.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074920" cy="2606040"/>
          </a:xfrm>
          <a:prstGeom prst="roundRect">
            <a:avLst>
              <a:gd name="adj" fmla="val 2807"/>
            </a:avLst>
          </a:prstGeom>
          <a:solidFill>
            <a:srgbClr val="F4EFFE"/>
          </a:solidFill>
          <a:ln w="12700">
            <a:solidFill>
              <a:srgbClr val="F4EF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20848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start with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987552" y="253288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298448" y="2523744"/>
            <a:ext cx="4032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 company blog or technical article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987552" y="289864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1298448" y="2889504"/>
            <a:ext cx="4032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Long, unstructured text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87552" y="326440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1298448" y="3255264"/>
            <a:ext cx="4032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source formats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987552" y="363016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1298448" y="3621024"/>
            <a:ext cx="4032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source metadata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053328" y="1783080"/>
            <a:ext cx="5074920" cy="2606040"/>
          </a:xfrm>
          <a:prstGeom prst="roundRect">
            <a:avLst>
              <a:gd name="adj" fmla="val 2807"/>
            </a:avLst>
          </a:prstGeom>
          <a:solidFill>
            <a:srgbClr val="7833FE"/>
          </a:solidFill>
          <a:ln w="12700">
            <a:solidFill>
              <a:srgbClr val="7833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0848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RAG pipeline needs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6355080" y="253288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6665976" y="2523744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Documents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6355080" y="289864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665976" y="2889504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meaningful chunks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6355080" y="326440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6665976" y="3255264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preserved with the text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6355080" y="363016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6665976" y="3621024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representation we can search semantically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685800" y="4800600"/>
            <a:ext cx="10442448" cy="694944"/>
          </a:xfrm>
          <a:prstGeom prst="roundRect">
            <a:avLst>
              <a:gd name="adj" fmla="val 7895"/>
            </a:avLst>
          </a:prstGeom>
          <a:solidFill>
            <a:srgbClr val="E8FBF4"/>
          </a:solidFill>
          <a:ln w="12700">
            <a:solidFill>
              <a:srgbClr val="E8FB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5020056"/>
            <a:ext cx="9829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06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 brings the data in.  Document gives it a standard shape.  Splitter turns it into manageable chunks.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457200" y="64373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ConsoleFlare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109960" y="6428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A1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Ingestion Pipeline: Load → Split → Embed → Store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12471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one-time preparation step turns raw knowledge into a searchable vector index.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230428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57400"/>
            <a:ext cx="448056" cy="448056"/>
          </a:xfrm>
          <a:prstGeom prst="ellipse">
            <a:avLst/>
          </a:prstGeom>
          <a:solidFill>
            <a:srgbClr val="7833FE"/>
          </a:solidFill>
          <a:ln w="12700">
            <a:solidFill>
              <a:srgbClr val="7833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30552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7249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Document Loader reads the source and returns LangChain Documents.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2980944" y="2697480"/>
            <a:ext cx="246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833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46120" y="1783080"/>
            <a:ext cx="230428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2152" y="2057400"/>
            <a:ext cx="448056" cy="448056"/>
          </a:xfrm>
          <a:prstGeom prst="ellipse">
            <a:avLst/>
          </a:prstGeom>
          <a:solidFill>
            <a:srgbClr val="7833FE"/>
          </a:solidFill>
          <a:ln w="12700">
            <a:solidFill>
              <a:srgbClr val="7833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2130552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02152" y="27249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1620" dirty="0"/>
          </a:p>
        </p:txBody>
      </p:sp>
      <p:sp>
        <p:nvSpPr>
          <p:cNvPr id="14" name="Text 12"/>
          <p:cNvSpPr/>
          <p:nvPr/>
        </p:nvSpPr>
        <p:spPr>
          <a:xfrm>
            <a:off x="3502152" y="30632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text splitter breaks long content into smaller meaningful chunks.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5568696" y="2697480"/>
            <a:ext cx="246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833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833872" y="1783080"/>
            <a:ext cx="230428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9904" y="2057400"/>
            <a:ext cx="448056" cy="448056"/>
          </a:xfrm>
          <a:prstGeom prst="ellipse">
            <a:avLst/>
          </a:prstGeom>
          <a:solidFill>
            <a:srgbClr val="7833FE"/>
          </a:solidFill>
          <a:ln w="12700">
            <a:solidFill>
              <a:srgbClr val="7833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9904" y="2130552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89904" y="27249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620" dirty="0"/>
          </a:p>
        </p:txBody>
      </p:sp>
      <p:sp>
        <p:nvSpPr>
          <p:cNvPr id="20" name="Text 18"/>
          <p:cNvSpPr/>
          <p:nvPr/>
        </p:nvSpPr>
        <p:spPr>
          <a:xfrm>
            <a:off x="6089904" y="30632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converts each chunk into a 2048-dimensional embedding vector.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8156448" y="2697480"/>
            <a:ext cx="246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833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421624" y="1783080"/>
            <a:ext cx="230428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77656" y="2057400"/>
            <a:ext cx="448056" cy="448056"/>
          </a:xfrm>
          <a:prstGeom prst="ellipse">
            <a:avLst/>
          </a:prstGeom>
          <a:solidFill>
            <a:srgbClr val="7833FE"/>
          </a:solidFill>
          <a:ln w="12700">
            <a:solidFill>
              <a:srgbClr val="7833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77656" y="2130552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677656" y="27249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620" dirty="0"/>
          </a:p>
        </p:txBody>
      </p:sp>
      <p:sp>
        <p:nvSpPr>
          <p:cNvPr id="26" name="Text 24"/>
          <p:cNvSpPr/>
          <p:nvPr/>
        </p:nvSpPr>
        <p:spPr>
          <a:xfrm>
            <a:off x="8677656" y="30632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 stores vectors with metadata for fast similarity search.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658368" y="4370832"/>
            <a:ext cx="10076688" cy="676656"/>
          </a:xfrm>
          <a:prstGeom prst="roundRect">
            <a:avLst>
              <a:gd name="adj" fmla="val 6757"/>
            </a:avLst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4572000"/>
            <a:ext cx="955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34E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 →  Document  →  Chunks  →  NVIDIA Embeddings  →  Pinecone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658368" y="5394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i="1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prepares the knowledge before any user asks a question.</a:t>
            </a:r>
            <a:endParaRPr lang="en-US" sz="1260" dirty="0"/>
          </a:p>
        </p:txBody>
      </p:sp>
      <p:sp>
        <p:nvSpPr>
          <p:cNvPr id="30" name="Text 28"/>
          <p:cNvSpPr/>
          <p:nvPr/>
        </p:nvSpPr>
        <p:spPr>
          <a:xfrm>
            <a:off x="457200" y="64373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ConsoleFlare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109960" y="6428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A1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Retrieval Finds the Right Chunk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12471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query and the stored chunks must be represented in the same embedding space.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4709160" cy="2697480"/>
          </a:xfrm>
          <a:prstGeom prst="roundRect">
            <a:avLst>
              <a:gd name="adj" fmla="val 2712"/>
            </a:avLst>
          </a:prstGeom>
          <a:solidFill>
            <a:srgbClr val="F4EFFE"/>
          </a:solidFill>
          <a:ln w="12700">
            <a:solidFill>
              <a:srgbClr val="F4EF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2066544"/>
            <a:ext cx="347472" cy="347472"/>
          </a:xfrm>
          <a:prstGeom prst="rect">
            <a:avLst/>
          </a:prstGeom>
          <a:solidFill>
            <a:srgbClr val="7833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7552" y="25420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30" b="1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query becomes a vector</a:t>
            </a:r>
            <a:endParaRPr lang="en-US" sz="1730" dirty="0"/>
          </a:p>
        </p:txBody>
      </p:sp>
      <p:sp>
        <p:nvSpPr>
          <p:cNvPr id="7" name="Text 5"/>
          <p:cNvSpPr/>
          <p:nvPr/>
        </p:nvSpPr>
        <p:spPr>
          <a:xfrm>
            <a:off x="987552" y="297180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0" dirty="0"/>
          </a:p>
        </p:txBody>
      </p:sp>
      <p:sp>
        <p:nvSpPr>
          <p:cNvPr id="8" name="Text 6"/>
          <p:cNvSpPr/>
          <p:nvPr/>
        </p:nvSpPr>
        <p:spPr>
          <a:xfrm>
            <a:off x="1298448" y="2962656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asks a natural-language question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87552" y="333756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0" dirty="0"/>
          </a:p>
        </p:txBody>
      </p:sp>
      <p:sp>
        <p:nvSpPr>
          <p:cNvPr id="10" name="Text 8"/>
          <p:cNvSpPr/>
          <p:nvPr/>
        </p:nvSpPr>
        <p:spPr>
          <a:xfrm>
            <a:off x="1298448" y="3328416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NVIDIA embedding model converts it to a vector</a:t>
            </a:r>
            <a:endParaRPr lang="en-US" sz="1270" dirty="0"/>
          </a:p>
        </p:txBody>
      </p:sp>
      <p:sp>
        <p:nvSpPr>
          <p:cNvPr id="11" name="Text 9"/>
          <p:cNvSpPr/>
          <p:nvPr/>
        </p:nvSpPr>
        <p:spPr>
          <a:xfrm>
            <a:off x="987552" y="370332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1298448" y="3694176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the query can be compared with stored chunk vectors</a:t>
            </a:r>
            <a:endParaRPr lang="en-US" sz="1270" dirty="0"/>
          </a:p>
        </p:txBody>
      </p:sp>
      <p:sp>
        <p:nvSpPr>
          <p:cNvPr id="13" name="Text 11"/>
          <p:cNvSpPr/>
          <p:nvPr/>
        </p:nvSpPr>
        <p:spPr>
          <a:xfrm>
            <a:off x="5404104" y="288950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833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815584" y="1783080"/>
            <a:ext cx="5312664" cy="2697480"/>
          </a:xfrm>
          <a:prstGeom prst="roundRect">
            <a:avLst>
              <a:gd name="adj" fmla="val 2712"/>
            </a:avLst>
          </a:prstGeom>
          <a:solidFill>
            <a:srgbClr val="7833FE"/>
          </a:solidFill>
          <a:ln w="12700">
            <a:solidFill>
              <a:srgbClr val="7833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066544"/>
            <a:ext cx="347472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833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26480" y="25420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 finds the nearest neighbors</a:t>
            </a:r>
            <a:endParaRPr lang="en-US" sz="1730" dirty="0"/>
          </a:p>
        </p:txBody>
      </p:sp>
      <p:sp>
        <p:nvSpPr>
          <p:cNvPr id="17" name="Text 15"/>
          <p:cNvSpPr/>
          <p:nvPr/>
        </p:nvSpPr>
        <p:spPr>
          <a:xfrm>
            <a:off x="6126480" y="297180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0" dirty="0"/>
          </a:p>
        </p:txBody>
      </p:sp>
      <p:sp>
        <p:nvSpPr>
          <p:cNvPr id="18" name="Text 16"/>
          <p:cNvSpPr/>
          <p:nvPr/>
        </p:nvSpPr>
        <p:spPr>
          <a:xfrm>
            <a:off x="6437376" y="2962656"/>
            <a:ext cx="4123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query vector with stored vectors</a:t>
            </a:r>
            <a:endParaRPr lang="en-US" sz="1270" dirty="0"/>
          </a:p>
        </p:txBody>
      </p:sp>
      <p:sp>
        <p:nvSpPr>
          <p:cNvPr id="19" name="Text 17"/>
          <p:cNvSpPr/>
          <p:nvPr/>
        </p:nvSpPr>
        <p:spPr>
          <a:xfrm>
            <a:off x="6126480" y="333756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0" dirty="0"/>
          </a:p>
        </p:txBody>
      </p:sp>
      <p:sp>
        <p:nvSpPr>
          <p:cNvPr id="20" name="Text 18"/>
          <p:cNvSpPr/>
          <p:nvPr/>
        </p:nvSpPr>
        <p:spPr>
          <a:xfrm>
            <a:off x="6437376" y="3328416"/>
            <a:ext cx="4123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the most semantically similar chunks</a:t>
            </a:r>
            <a:endParaRPr lang="en-US" sz="1270" dirty="0"/>
          </a:p>
        </p:txBody>
      </p:sp>
      <p:sp>
        <p:nvSpPr>
          <p:cNvPr id="21" name="Text 19"/>
          <p:cNvSpPr/>
          <p:nvPr/>
        </p:nvSpPr>
        <p:spPr>
          <a:xfrm>
            <a:off x="6126480" y="370332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0" dirty="0"/>
          </a:p>
        </p:txBody>
      </p:sp>
      <p:sp>
        <p:nvSpPr>
          <p:cNvPr id="22" name="Text 20"/>
          <p:cNvSpPr/>
          <p:nvPr/>
        </p:nvSpPr>
        <p:spPr>
          <a:xfrm>
            <a:off x="6437376" y="3694176"/>
            <a:ext cx="4123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the original chunk text to the LLM as context</a:t>
            </a:r>
            <a:endParaRPr lang="en-US" sz="1270" dirty="0"/>
          </a:p>
        </p:txBody>
      </p:sp>
      <p:sp>
        <p:nvSpPr>
          <p:cNvPr id="23" name="Shape 21"/>
          <p:cNvSpPr/>
          <p:nvPr/>
        </p:nvSpPr>
        <p:spPr>
          <a:xfrm>
            <a:off x="685800" y="4809744"/>
            <a:ext cx="10442448" cy="694944"/>
          </a:xfrm>
          <a:prstGeom prst="roundRect">
            <a:avLst>
              <a:gd name="adj" fmla="val 7895"/>
            </a:avLst>
          </a:prstGeom>
          <a:solidFill>
            <a:srgbClr val="E8FBF4"/>
          </a:solidFill>
          <a:ln w="12700">
            <a:solidFill>
              <a:srgbClr val="E8FB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02005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90" b="1" dirty="0">
                <a:solidFill>
                  <a:srgbClr val="106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= representation.      Vector database = storage + similarity search.</a:t>
            </a:r>
            <a:endParaRPr lang="en-US" sz="1290" dirty="0"/>
          </a:p>
        </p:txBody>
      </p:sp>
      <p:sp>
        <p:nvSpPr>
          <p:cNvPr id="25" name="Text 23"/>
          <p:cNvSpPr/>
          <p:nvPr/>
        </p:nvSpPr>
        <p:spPr>
          <a:xfrm>
            <a:off x="457200" y="64373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ConsoleFlare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109960" y="6428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594360"/>
            <a:ext cx="3383280" cy="3383280"/>
          </a:xfrm>
          <a:prstGeom prst="ellipse">
            <a:avLst/>
          </a:prstGeom>
          <a:solidFill>
            <a:srgbClr val="7833FE"/>
          </a:solidFill>
          <a:ln w="12700">
            <a:solidFill>
              <a:srgbClr val="7833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4892040"/>
            <a:ext cx="2743200" cy="2743200"/>
          </a:xfrm>
          <a:prstGeom prst="ellipse">
            <a:avLst/>
          </a:prstGeom>
          <a:solidFill>
            <a:srgbClr val="7833FE"/>
          </a:solidFill>
          <a:ln w="12700">
            <a:solidFill>
              <a:srgbClr val="7833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603504"/>
            <a:ext cx="8458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Ready. Knowledge Not Ingested Yet.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225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F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the foundation. The next step is to put real knowledge into it.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" y="1920240"/>
            <a:ext cx="2788920" cy="1719072"/>
          </a:xfrm>
          <a:prstGeom prst="roundRect">
            <a:avLst>
              <a:gd name="adj" fmla="val 2660"/>
            </a:avLst>
          </a:prstGeom>
          <a:solidFill>
            <a:srgbClr val="7833FE"/>
          </a:solidFill>
          <a:ln w="12700">
            <a:solidFill>
              <a:srgbClr val="7833FE"/>
            </a:solidFill>
            <a:prstDash val="solid"/>
          </a:ln>
        </p:spPr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896112" y="22585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RAG Module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651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rag/ folder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ingestion.py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retrieval.py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3749040" y="1920240"/>
            <a:ext cx="2788920" cy="1719072"/>
          </a:xfrm>
          <a:prstGeom prst="roundRect">
            <a:avLst>
              <a:gd name="adj" fmla="val 2660"/>
            </a:avLst>
          </a:prstGeom>
          <a:solidFill>
            <a:srgbClr val="7833FE"/>
          </a:solidFill>
          <a:ln w="12700">
            <a:solidFill>
              <a:srgbClr val="7833FE"/>
            </a:solidFill>
            <a:prstDash val="solid"/>
          </a:ln>
        </p:spPr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4023360" y="22585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NVIDIA Embeddings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23360" y="2651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nemotron-3-embed-1b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2048-dimensional vectors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885432" y="1920240"/>
            <a:ext cx="2788920" cy="1719072"/>
          </a:xfrm>
          <a:prstGeom prst="roundRect">
            <a:avLst>
              <a:gd name="adj" fmla="val 2660"/>
            </a:avLst>
          </a:prstGeom>
          <a:solidFill>
            <a:srgbClr val="7833FE"/>
          </a:solidFill>
          <a:ln w="12700">
            <a:solidFill>
              <a:srgbClr val="7833FE"/>
            </a:solidFill>
            <a:prstDash val="solid"/>
          </a:ln>
        </p:spPr>
      </p:sp>
      <p:sp>
        <p:nvSpPr>
          <p:cNvPr id="13" name="Text 11">
            <a:hlinkClick r:id="rId3" tooltip=""/>
          </p:cNvPr>
          <p:cNvSpPr/>
          <p:nvPr/>
        </p:nvSpPr>
        <p:spPr>
          <a:xfrm>
            <a:off x="7159752" y="22585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Pinecone Index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59752" y="2651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vectors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Dimension: 2048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21792" y="4041648"/>
            <a:ext cx="9829800" cy="713232"/>
          </a:xfrm>
          <a:prstGeom prst="roundRect">
            <a:avLst>
              <a:gd name="adj" fmla="val 6410"/>
            </a:avLst>
          </a:prstGeom>
          <a:solidFill>
            <a:srgbClr val="1A1030"/>
          </a:solidFill>
          <a:ln w="12700">
            <a:solidFill>
              <a:srgbClr val="1A1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27939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34E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 dimension: 2048     ↔     Pinecone dimension: 2048</a:t>
            </a:r>
            <a:endParaRPr lang="en-US" sz="1310" dirty="0"/>
          </a:p>
        </p:txBody>
      </p:sp>
      <p:sp>
        <p:nvSpPr>
          <p:cNvPr id="17" name="Text 15"/>
          <p:cNvSpPr/>
          <p:nvPr/>
        </p:nvSpPr>
        <p:spPr>
          <a:xfrm>
            <a:off x="621792" y="519379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Load the blog  →  Chunk it  →  Generate embeddings  →  Store vectors in Pinecone.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1792" y="583387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docs: LangChain  •  NVIDIA  •  Pinecone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64373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C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ConsoleFlare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109960" y="6428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9C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ConsoleFlare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Implementation + Project Setup</dc:title>
  <dc:subject>RAG Implementation + Project Setup</dc:subject>
  <dc:creator>ConsoleFlare</dc:creator>
  <cp:lastModifiedBy>ConsoleFlare</cp:lastModifiedBy>
  <cp:revision>1</cp:revision>
  <dcterms:created xsi:type="dcterms:W3CDTF">2026-08-31T13:07:26Z</dcterms:created>
  <dcterms:modified xsi:type="dcterms:W3CDTF">2026-08-31T13:07:26Z</dcterms:modified>
</cp:coreProperties>
</file>